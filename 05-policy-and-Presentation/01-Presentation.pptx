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0"/>
    <p:restoredTop sz="94671"/>
  </p:normalViewPr>
  <p:slideViewPr>
    <p:cSldViewPr snapToGrid="0" snapToObjects="1">
      <p:cViewPr>
        <p:scale>
          <a:sx n="92" d="100"/>
          <a:sy n="92" d="100"/>
        </p:scale>
        <p:origin x="1448" y="8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9728" cy="4023360"/>
          </a:xfrm>
          <a:prstGeom prst="rect">
            <a:avLst/>
          </a:prstGeom>
          <a:solidFill>
            <a:srgbClr val="3A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1234440"/>
            <a:ext cx="10058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SecureNova AI Identity Security</a:t>
            </a:r>
          </a:p>
          <a:p>
            <a:pPr>
              <a:spcBef>
                <a:spcPts val="1400"/>
              </a:spcBef>
              <a:defRPr sz="2200">
                <a:solidFill>
                  <a:srgbClr val="BECDE1"/>
                </a:solidFill>
              </a:defRPr>
            </a:pPr>
            <a:r>
              <a:t>Threat Modeling, Red Team, Blue Team &amp; Governance</a:t>
            </a:r>
          </a:p>
          <a:p>
            <a:pPr>
              <a:spcBef>
                <a:spcPts val="2400"/>
              </a:spcBef>
              <a:defRPr sz="1800">
                <a:solidFill>
                  <a:srgbClr val="FFFFFF"/>
                </a:solidFill>
              </a:defRPr>
            </a:pPr>
            <a:r>
              <a:t>Capstone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846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ECDE1"/>
                </a:solidFill>
              </a:defRPr>
            </a:pPr>
            <a:r>
              <a:t>Nandayala Abhirama Varma  |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1F30"/>
                </a:solidFill>
              </a:defRPr>
            </a:pPr>
            <a:r>
              <a:t>Presentation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</a:defRPr>
            </a:pPr>
            <a:r>
              <a:t>• 1. Scope and security methodology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</a:defRPr>
            </a:pPr>
            <a:r>
              <a:t>• 2. AI identity threat model and IAM architecture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</a:defRPr>
            </a:pPr>
            <a:r>
              <a:t>• 3. Red-team findings and attack evidence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</a:defRPr>
            </a:pPr>
            <a:r>
              <a:t>• 4. Blue-team controls and detection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</a:defRPr>
            </a:pPr>
            <a:r>
              <a:t>• 5. Compliance status and governance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</a:defRPr>
            </a:pPr>
            <a:r>
              <a:t>• 6. Top 5 recommendations</a:t>
            </a:r>
          </a:p>
          <a:p>
            <a:pPr>
              <a:spcAft>
                <a:spcPts val="1100"/>
              </a:spcAft>
              <a:defRPr sz="1900">
                <a:solidFill>
                  <a:srgbClr val="232A34"/>
                </a:solidFill>
              </a:defRPr>
            </a:pPr>
            <a:r>
              <a:t>• 7. Live demo: attack → guardrail block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SecureNova AI Identity Security  |  Nandayala Abhirama Varma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1F30"/>
                </a:solidFill>
              </a:defRPr>
            </a:pPr>
            <a:r>
              <a:t>1. Scope and Security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492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A70B4"/>
                </a:solidFill>
              </a:defRPr>
            </a:pPr>
            <a:r>
              <a:t>SecureNova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Human users authenticate through Auth0.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An AI agent calls internal REST APIs and LLM services.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RAG retrieves knowledge from a vector database.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MCP provides access to tools on behalf of the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3492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6420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A70B4"/>
                </a:solidFill>
              </a:defRPr>
            </a:pPr>
            <a:r>
              <a:t>Security concerns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Credential exposure through prompt injection.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Uncontrolled privileges for non-human identities.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Agent identity spoofing and tool abuse.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Insufficient audit trails and anomaly detection.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SecureNova AI Identity Security  |  Nandayala Abhirama Varma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1F30"/>
                </a:solidFill>
              </a:defRPr>
            </a:pPr>
            <a:r>
              <a:t>2. AI Identity Attack Surface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492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A70B4"/>
                </a:solidFill>
              </a:defRPr>
            </a:pPr>
            <a:r>
              <a:t>Identity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Human user: Auth0 / OIDC authentication.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AI agent: orchestrates LLM, RAG and API calls.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OAuth M2M client: obtains service access tokens.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LLM API key: credential used to reach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3492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6420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A70B4"/>
                </a:solidFill>
              </a:defRPr>
            </a:pPr>
            <a:r>
              <a:t>Service identities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RAG pipeline identity: retrieves knowledge.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MCP server identity: exposes controlled tools.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Internal APIs validate tokens, scopes and identity claims.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Audit logs provide evidence of identity activity.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SecureNova AI Identity Security  |  Nandayala Abhirama Varma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1F30"/>
                </a:solidFill>
              </a:defRPr>
            </a:pPr>
            <a:r>
              <a:t>3. Threat Model and Trust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User layer: Human User → SecureNova Web App → Auth0.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AI agent layer: OAuth M2M client, AI Agent, RAG pipeline, Vector DB, MCP Server and MCP Tools.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Internal API layer: REST APIs, LLM provider and Audit Logs.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Trust boundaries separate the user, agent and internal API layers.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Data flows are labelled with authentication tokens, API requests, retrieved content, tool calls and audit events.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STRIDE threats were populated in Threat Dragon for the identity flows.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SecureNova AI Identity Security  |  Nandayala Abhirama Varma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1F30"/>
                </a:solidFill>
              </a:defRPr>
            </a:pPr>
            <a:r>
              <a:t>4. Attack Trees and Risk Prioritization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492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A70B4"/>
                </a:solidFill>
              </a:defRPr>
            </a:pPr>
            <a:r>
              <a:t>Three attack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LLM API Key Exfiltration via prompt injection.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Agent Identity Spoofing to gain elevated API scope.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RAG Chunk Poisoning to manipulate agent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3492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6420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A70B4"/>
                </a:solidFill>
              </a:defRPr>
            </a:pPr>
            <a:r>
              <a:t>Risk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Each path was broken into attacker actions and conditions.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Likelihood × Impact was used for risk prioritization.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MITRE ATLAS techniques were mapped to the attack paths.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Risk register contains more than 10 identity-flow threats.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SecureNova AI Identity Security  |  Nandayala Abhirama Varma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1F30"/>
                </a:solidFill>
              </a:defRPr>
            </a:pPr>
            <a:r>
              <a:t>5. IAM Architecture with Auth0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492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A70B4"/>
                </a:solidFill>
              </a:defRPr>
            </a:pPr>
            <a:r>
              <a:t>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OIDC and OAuth 2.0 + PKCE for user authentication.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Auth0 Universal Login provides centralized login.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M2M OAuth client is used for service-to-service access.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JWTs carry issuer, audience, expiry and scope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3492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6420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A70B4"/>
                </a:solidFill>
              </a:defRPr>
            </a:pPr>
            <a:r>
              <a:t>Authorization &amp; hardening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Custom API scopes: read:ai-data and write:admin.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Agent identity is bound using a custom agent_id claim.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Short-lived M2M/API credentials reduce exposure.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MFA, brute-force protection and suspicious-IP throttling are enabled.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SecureNova AI Identity Security  |  Nandayala Abhirama Varma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1F30"/>
                </a:solidFill>
              </a:defRPr>
            </a:pPr>
            <a:r>
              <a:t>6. Red Team: AI Identity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Indirect Prompt Injection: four payloads successfully caused the vulnerable agent to disclose the simulated JWT.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Agent Identity Spoofing: tested whether a trusted-looking orchestrator message could trigger a privileged action.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System Prompt Extraction: five extraction techniques were tested.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RAG Poisoning + MCP Abuse: malicious knowledge content was used to test unsafe downstream actions.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Each successful finding was scored using CVSS 3.1 and mapped to MITRE ATLAS where applicable.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SecureNova AI Identity Security  |  Nandayala Abhirama Varma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1F30"/>
                </a:solidFill>
              </a:defRPr>
            </a:pPr>
            <a:r>
              <a:t>7. Red-Team Risk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7315200" cy="566928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49047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User → Admin Role Escalation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46304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1F30"/>
                </a:solidFill>
              </a:defRPr>
            </a:pPr>
            <a:r>
              <a:t>9.1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149047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3737"/>
                </a:solidFill>
              </a:defRPr>
            </a:pPr>
            <a:r>
              <a:t>Critical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40280"/>
            <a:ext cx="7315200" cy="566928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31343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RAG Poisoning + MCP Abuse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28600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1F30"/>
                </a:solidFill>
              </a:defRPr>
            </a:pPr>
            <a:r>
              <a:t>8.3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231343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E7D1E"/>
                </a:solidFill>
              </a:defRPr>
            </a:pPr>
            <a:r>
              <a:t>High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63240"/>
            <a:ext cx="7315200" cy="566928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13639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Indirect Prompt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1F30"/>
                </a:solidFill>
              </a:defRPr>
            </a:pPr>
            <a:r>
              <a:t>8.2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31363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E7D1E"/>
                </a:solidFill>
              </a:defRPr>
            </a:pPr>
            <a:r>
              <a:t>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86200"/>
            <a:ext cx="7315200" cy="566928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9593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Agent Identity Spoofing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93192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1F30"/>
                </a:solidFill>
              </a:defRPr>
            </a:pPr>
            <a:r>
              <a:t>7.7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95935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E7D1E"/>
                </a:solidFill>
              </a:defRPr>
            </a:pPr>
            <a:r>
              <a:t>High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09160"/>
            <a:ext cx="7315200" cy="566928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78231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t>System Prompt 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75488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1F30"/>
                </a:solidFill>
              </a:defRPr>
            </a:pPr>
            <a:r>
              <a:t>5.3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47823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A70B4"/>
                </a:solidFill>
              </a:defRPr>
            </a:pPr>
            <a:r>
              <a:t>Medium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SecureNova AI Identity Security  |  Nandayala Abhirama Varma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1F30"/>
                </a:solidFill>
              </a:defRPr>
            </a:pPr>
            <a:r>
              <a:t>8. Blue Team: Guardrails and Identity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492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A70B4"/>
                </a:solidFill>
              </a:defRPr>
            </a:pPr>
            <a:r>
              <a:t>Model-facing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Input guardrail checks Project 3 payloads before they reach the model workflow.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Five tested attack payloads were blocked by the input guardrail.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Output guardrail detects JWT-shaped strings with regex.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Detected credentials are replaced with [REDACTED].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3492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6420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A70B4"/>
                </a:solidFill>
              </a:defRPr>
            </a:pPr>
            <a:r>
              <a:t>Identity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Ed25519 signs outgoing agent messages.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Receiving side verifies the signature before processing.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Tampering with one character causes signature verification failure.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Auth0 token TTL was reduced and refresh-token rotation enabled.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SecureNova AI Identity Security  |  Nandayala Abhirama Varma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1F30"/>
                </a:solidFill>
              </a:defRPr>
            </a:pPr>
            <a:r>
              <a:t>9. Detection and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LLM API volume spike: alert when requests exceed 20 within 60 seconds.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Scope change: compare the current agent scope with the previous request.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Token reuse after expiry: decode the JWT exp claim and compare it with the current time.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Replay of Project 3 scenarios was used to confirm alerts.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Alerts include timestamp, identity and event type, making the events useful for investigation.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SecureNova AI Identity Security  |  Nandayala Abhirama Varma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1F30"/>
                </a:solidFill>
              </a:defRPr>
            </a:pPr>
            <a:r>
              <a:t>10. Before vs After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492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A70B4"/>
                </a:solidFill>
              </a:defRPr>
            </a:pPr>
            <a:r>
              <a:t>Before hardening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Prompt injection could expose the simulated JWT.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Identity spoofing could be tested against privileged actions.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Poisoned content could influence agent behavior.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Model output had no JWT-specific redaction layer.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Identity anomalies were not centrally detected.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3492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6420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A70B4"/>
                </a:solidFill>
              </a:defRPr>
            </a:pPr>
            <a:r>
              <a:t>After hardening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Input guardrails blocked all five tested Project 3 payloads.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Output guardrail redacts JWT-shaped credentials.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Cryptographic identity binding protects agent messages.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Short-lived credentials and refresh-token rotation reduce replay risk.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Anomaly detection identifies volume, scope and expired-token misuse.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SecureNova AI Identity Security  |  Nandayala Abhirama Varma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1F30"/>
                </a:solidFill>
              </a:defRPr>
            </a:pPr>
            <a:r>
              <a:t>11. Compliance and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492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A70B4"/>
                </a:solidFill>
              </a:defRPr>
            </a:pPr>
            <a:r>
              <a:t>NIST AI RMF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Govern: policy, ownership and accountability.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Map: identity attack surface, threat model and risk context.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Measure: red-team testing, CVSS scoring and anomaly detection.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Manage: guardrails, IAM hardening, incident response and remediation.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3492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6420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A70B4"/>
                </a:solidFill>
              </a:defRPr>
            </a:pPr>
            <a:r>
              <a:t>OWASP LLM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LLM01: Indirect Prompt Injection → input/output guardrails.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LLM06: Sensitive Information Disclosure → JWT output redaction.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LLM07: System Prompt Leakage → extraction testing and guardrails.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LLM09: Agentic/identity risks → identity binding and authorization controls.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SecureNova AI Identity Security  |  Nandayala Abhirama Varma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1F30"/>
                </a:solidFill>
              </a:defRPr>
            </a:pPr>
            <a:r>
              <a:t>12. AI Identity Security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</a:defRPr>
            </a:pPr>
            <a:r>
              <a:t>• Identity Lifecycle: provision, review, rotate and decommission AI identities with defined ownership.</a:t>
            </a:r>
          </a:p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</a:defRPr>
            </a:pPr>
            <a:r>
              <a:t>• Credential Governance: API keys rotate within a maximum of 90 days; agents should not use long-lived credentials.</a:t>
            </a:r>
          </a:p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</a:defRPr>
            </a:pPr>
            <a:r>
              <a:t>• Secrets must be stored in controlled secret-management systems rather than application code.</a:t>
            </a:r>
          </a:p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</a:defRPr>
            </a:pPr>
            <a:r>
              <a:t>• Incident Response covers leaked LLM API keys, compromised agent identities, and prompt-injection data exfiltration.</a:t>
            </a:r>
          </a:p>
          <a:p>
            <a:pPr>
              <a:spcAft>
                <a:spcPts val="1100"/>
              </a:spcAft>
              <a:defRPr sz="1700">
                <a:solidFill>
                  <a:srgbClr val="232A34"/>
                </a:solidFill>
              </a:defRPr>
            </a:pPr>
            <a:r>
              <a:t>• Evidence preservation includes prompts, model responses, identity events, API requests, timestamps, logs and security alerts.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SecureNova AI Identity Security  |  Nandayala Abhirama Varma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1F30"/>
                </a:solidFill>
              </a:defRPr>
            </a:pPr>
            <a:r>
              <a:rPr dirty="0"/>
              <a:t>13. Top 5 Recommendations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325880"/>
            <a:ext cx="530352" cy="530352"/>
          </a:xfrm>
          <a:prstGeom prst="ellipse">
            <a:avLst/>
          </a:prstGeom>
          <a:solidFill>
            <a:srgbClr val="3A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16736"/>
            <a:ext cx="6766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4"/>
                </a:solidFill>
              </a:defRPr>
            </a:pPr>
            <a:r>
              <a:rPr dirty="0"/>
              <a:t>Least privilege for AI identities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5331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Effort: Medium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258568"/>
            <a:ext cx="530352" cy="530352"/>
          </a:xfrm>
          <a:prstGeom prst="ellipse">
            <a:avLst/>
          </a:prstGeom>
          <a:solidFill>
            <a:srgbClr val="3A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49424"/>
            <a:ext cx="6766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4"/>
                </a:solidFill>
              </a:defRPr>
            </a:pPr>
            <a:r>
              <a:t>Short-lived tokens and automatic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285999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Effort: Low–Medium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191256"/>
            <a:ext cx="530352" cy="530352"/>
          </a:xfrm>
          <a:prstGeom prst="ellipse">
            <a:avLst/>
          </a:prstGeom>
          <a:solidFill>
            <a:srgbClr val="3A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182112"/>
            <a:ext cx="6766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4"/>
                </a:solidFill>
              </a:defRPr>
            </a:pPr>
            <a:r>
              <a:t>Input + output 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21868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Effort: Medium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23944"/>
            <a:ext cx="530352" cy="530352"/>
          </a:xfrm>
          <a:prstGeom prst="ellipse">
            <a:avLst/>
          </a:prstGeom>
          <a:solidFill>
            <a:srgbClr val="3A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114800"/>
            <a:ext cx="6766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4"/>
                </a:solidFill>
              </a:defRPr>
            </a:pPr>
            <a:r>
              <a:t>Cryptographic agent-to-agent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151376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Effort: Medium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056632"/>
            <a:ext cx="530352" cy="530352"/>
          </a:xfrm>
          <a:prstGeom prst="ellipse">
            <a:avLst/>
          </a:prstGeom>
          <a:solidFill>
            <a:srgbClr val="3A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047488"/>
            <a:ext cx="6766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4"/>
                </a:solidFill>
              </a:defRPr>
            </a:pPr>
            <a:r>
              <a:t>Continuous monitoring and red-team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5084064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Effort: Medium–High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SecureNova AI Identity Security  |  Nandayala Abhirama Varma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1220349-854F-080F-4C6C-55297DF1A1CE}"/>
              </a:ext>
            </a:extLst>
          </p:cNvPr>
          <p:cNvSpPr/>
          <p:nvPr/>
        </p:nvSpPr>
        <p:spPr>
          <a:xfrm>
            <a:off x="640080" y="1417320"/>
            <a:ext cx="53492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44522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14. Live Demo: Attack → Blo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A70B4"/>
                </a:solidFill>
              </a:defRPr>
            </a:pPr>
            <a:r>
              <a:rPr dirty="0"/>
              <a:t>Project 3 attack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rPr dirty="0"/>
              <a:t>• Malicious document contains an indirect instruction.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rPr dirty="0"/>
              <a:t>• Vulnerable agent follows the instruction.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rPr dirty="0"/>
              <a:t>• Simulated JWT appears in the model response.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rPr dirty="0"/>
              <a:t>• Result: JWT LEAKED.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CD3ABFE-EFD8-D7A0-F49A-0AB65449C07B}"/>
              </a:ext>
            </a:extLst>
          </p:cNvPr>
          <p:cNvSpPr/>
          <p:nvPr/>
        </p:nvSpPr>
        <p:spPr>
          <a:xfrm>
            <a:off x="6202682" y="1325880"/>
            <a:ext cx="53492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6420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A70B4"/>
                </a:solidFill>
              </a:defRPr>
            </a:pPr>
            <a:r>
              <a:t>Project 4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Same payload is passed through the input guardrail.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Guardrail detects the malicious instruction pattern.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Request is blocked before normal processing.</a:t>
            </a:r>
          </a:p>
          <a:p>
            <a:pPr>
              <a:spcAft>
                <a:spcPts val="1100"/>
              </a:spcAft>
              <a:defRPr sz="1500">
                <a:solidFill>
                  <a:srgbClr val="232A34"/>
                </a:solidFill>
              </a:defRPr>
            </a:pPr>
            <a:r>
              <a:t>• Result: BLOCKED.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SecureNova AI Identity Security  |  Nandayala Abhirama Varma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1F30"/>
                </a:solidFill>
              </a:defRPr>
            </a:pPr>
            <a:r>
              <a:t>15.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The main security lesson is that AI agents need identity controls just like other privileged services.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Threat modelling identified where identities, credentials and trust boundaries could be abused.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Red-team testing demonstrated realistic failure modes, including simulated JWT disclosure.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Blue-team controls added prevention, credential protection, cryptographic verification and detection.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The final policy and compliance mapping turn the technical findings into an ongoing security process.</a:t>
            </a:r>
          </a:p>
          <a:p>
            <a:pPr>
              <a:spcAft>
                <a:spcPts val="1100"/>
              </a:spcAft>
              <a:defRPr sz="1800">
                <a:solidFill>
                  <a:srgbClr val="232A34"/>
                </a:solidFill>
              </a:defRPr>
            </a:pPr>
            <a:r>
              <a:t>• Success should be measured by reduced attack impact, strong identity assurance and continuous monitoring.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SecureNova AI Identity Security  |  Nandayala Abhirama Varma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83531" y="2872699"/>
            <a:ext cx="248965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1524</Words>
  <Application>Microsoft Macintosh PowerPoint</Application>
  <PresentationFormat>Widescreen</PresentationFormat>
  <Paragraphs>182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abhiramavarma</cp:lastModifiedBy>
  <cp:revision>3</cp:revision>
  <dcterms:created xsi:type="dcterms:W3CDTF">2013-01-27T09:14:16Z</dcterms:created>
  <dcterms:modified xsi:type="dcterms:W3CDTF">2026-08-24T17:28:53Z</dcterms:modified>
  <cp:category/>
</cp:coreProperties>
</file>